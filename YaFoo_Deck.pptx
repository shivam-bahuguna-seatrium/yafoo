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EF52DC-C1E0-84A3-A3BB-79ED93048799}" v="91" dt="2026-09-05T09:23:43.653"/>
    <p1510:client id="{6E79A7F2-0290-1EFF-0FC1-604FE5E1FD97}" v="30" dt="2026-09-05T11:27:10.9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adapted from the founder-provided YaFoo presentation.
Business modes and demo-app status provided by the founders.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Problem framing and target-user description adapted from the founder-provided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Business modes, pickup-hub marketing role and monthly meal-plan concept provided by the founders.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AI capability direction provided by the founders.
Calorie values should be presented as estimates unless verified nutrition data is integrated.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adapted from the founder-provided YaFoo presentation.
Demo-app readiness and product flow provided by the founders.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Mumbai-first plan and revenue model are founder planning assumptions.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SHiV.AI: https://www.shivai.co.in/
YaFoo: https://yafoo.in/
IS2 Hospitality &amp; Tourism: https://www.is2hospitality.shivai.co.in/
Strata Hydration: https://www.stratahydration.com/
Gurukul: https://www.gurukul.shivai.co.in/
Ownership and initiative structure provided by the founders.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Partnership requirements and pilot objectives provided by the founders.
No funding amount is stated on this slide.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aFoo.i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is2hospitality.shivai.co.in" TargetMode="External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12" Type="http://schemas.openxmlformats.org/officeDocument/2006/relationships/hyperlink" Target="http://www.gurukul.shivai.co.in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YAFOO.IN" TargetMode="External"/><Relationship Id="rId11" Type="http://schemas.openxmlformats.org/officeDocument/2006/relationships/image" Target="../media/image16.svg"/><Relationship Id="rId5" Type="http://schemas.openxmlformats.org/officeDocument/2006/relationships/image" Target="../media/image13.svg"/><Relationship Id="rId10" Type="http://schemas.openxmlformats.org/officeDocument/2006/relationships/hyperlink" Target="https://www.stratahydration.com/" TargetMode="External"/><Relationship Id="rId4" Type="http://schemas.openxmlformats.org/officeDocument/2006/relationships/hyperlink" Target="http://www.shivai.co.in" TargetMode="External"/><Relationship Id="rId9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media/image2.png"/>
          <p:cNvPicPr>
            <a:picLocks noChangeAspect="1"/>
          </p:cNvPicPr>
          <p:nvPr/>
        </p:nvPicPr>
        <p:blipFill>
          <a:blip r:embed="rId3">
            <a:alphaModFix amt="82000"/>
          </a:blip>
          <a:srcRect l="25200" r="25200"/>
          <a:stretch/>
        </p:blipFill>
        <p:spPr>
          <a:xfrm>
            <a:off x="7086600" y="0"/>
            <a:ext cx="51023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583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40080" y="141732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/>
                <a:ea typeface="Aptos" pitchFamily="34" charset="-122"/>
                <a:cs typeface="Aptos" pitchFamily="34" charset="-120"/>
              </a:rPr>
              <a:t>Food for every Yatri.</a:t>
            </a:r>
            <a:endParaRPr lang="en-US" sz="3000" dirty="0">
              <a:latin typeface="Aptos"/>
            </a:endParaRPr>
          </a:p>
          <a:p>
            <a:r>
              <a:rPr lang="en-US" sz="3000" b="1" dirty="0">
                <a:solidFill>
                  <a:srgbClr val="FFFFFF"/>
                </a:solidFill>
                <a:latin typeface="Aptos"/>
                <a:ea typeface="Aptos" pitchFamily="34" charset="-122"/>
                <a:cs typeface="Aptos" pitchFamily="34" charset="-120"/>
              </a:rPr>
              <a:t>Food at any destination.</a:t>
            </a:r>
            <a:endParaRPr lang="en-US" sz="3000" dirty="0">
              <a:latin typeface="Apto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D2E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along your route, or order directly to your office, corporate campus, home, hotel or any destination.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3977640"/>
            <a:ext cx="1691640" cy="384048"/>
          </a:xfrm>
          <a:prstGeom prst="roundRect">
            <a:avLst>
              <a:gd name="adj" fmla="val 42857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9776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APP READY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14600" y="3977640"/>
            <a:ext cx="1691640" cy="384048"/>
          </a:xfrm>
          <a:prstGeom prst="roundRect">
            <a:avLst>
              <a:gd name="adj" fmla="val 42857"/>
            </a:avLst>
          </a:prstGeom>
          <a:solidFill>
            <a:srgbClr val="174850"/>
          </a:solidFill>
          <a:ln w="12700">
            <a:solidFill>
              <a:srgbClr val="1748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14600" y="39776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MUMBAI FIRST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89120" y="3977640"/>
            <a:ext cx="1691640" cy="384048"/>
          </a:xfrm>
          <a:prstGeom prst="roundRect">
            <a:avLst>
              <a:gd name="adj" fmla="val 42857"/>
            </a:avLst>
          </a:prstGeom>
          <a:solidFill>
            <a:srgbClr val="174850"/>
          </a:solidFill>
          <a:ln w="12700">
            <a:solidFill>
              <a:srgbClr val="1748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0" y="39776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ORDERING MODES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6080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8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Powered by SHiV.AI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40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EVERYDAY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apps stop where movement begins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264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sharp use case, a clear user and a repeatable daily habit.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3154680" cy="4297680"/>
          </a:xfrm>
          <a:prstGeom prst="roundRect">
            <a:avLst>
              <a:gd name="adj" fmla="val 5217"/>
            </a:avLst>
          </a:prstGeom>
          <a:solidFill>
            <a:srgbClr val="062F36"/>
          </a:solidFill>
          <a:ln w="12700">
            <a:solidFill>
              <a:srgbClr val="062F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TARGET USER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568938"/>
            <a:ext cx="2800773" cy="952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Urban commuters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cannot wait.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4E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Office-goers, students and frequent travellers navigating trains, metro lines and congested roads.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52852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address ≠ moving customer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69080" y="1901952"/>
            <a:ext cx="658368" cy="658368"/>
          </a:xfrm>
          <a:prstGeom prst="roundRect">
            <a:avLst>
              <a:gd name="adj" fmla="val 27778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6240" y="2039112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892040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LOST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92040" y="22128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Detours, queues and uncertain preparation times.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069080" y="3090672"/>
            <a:ext cx="658368" cy="658368"/>
          </a:xfrm>
          <a:prstGeom prst="roundRect">
            <a:avLst>
              <a:gd name="adj" fmla="val 27778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6240" y="3227832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92040" y="3090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 ACCESS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92040" y="34015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 meals are hard to coordinate mid-journey.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069080" y="4279392"/>
            <a:ext cx="658368" cy="658368"/>
          </a:xfrm>
          <a:prstGeom prst="roundRect">
            <a:avLst>
              <a:gd name="adj" fmla="val 27778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06240" y="441655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92040" y="4279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FRICTION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92040" y="45902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delivery is designed for fixed locations.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001000" y="1874520"/>
            <a:ext cx="3657600" cy="4297680"/>
          </a:xfrm>
          <a:prstGeom prst="roundRect">
            <a:avLst>
              <a:gd name="adj" fmla="val 4500"/>
            </a:avLst>
          </a:prstGeom>
          <a:solidFill>
            <a:srgbClr val="E7F3F1"/>
          </a:solidFill>
          <a:ln w="12700">
            <a:solidFill>
              <a:srgbClr val="E7F3F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321040" y="22677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 converts the route itself into the delivery address.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8321040" y="35204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805672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3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before departure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321040" y="41788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805672" y="4178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3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ETA with prep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321040" y="48371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8805672" y="48371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3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up without delay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40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platform, two high-frequency needs.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264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 serves customers while moving and after arriving, with flexible food access for commuters, offices and recurring meal users.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532120" cy="4315968"/>
          </a:xfrm>
          <a:prstGeom prst="roundRect">
            <a:avLst>
              <a:gd name="adj" fmla="val 3814"/>
            </a:avLst>
          </a:prstGeom>
          <a:solidFill>
            <a:srgbClr val="062F36"/>
          </a:solidFill>
          <a:ln w="12700">
            <a:solidFill>
              <a:srgbClr val="062F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240280"/>
            <a:ext cx="713232" cy="713232"/>
          </a:xfrm>
          <a:prstGeom prst="roundRect">
            <a:avLst>
              <a:gd name="adj" fmla="val 25641"/>
            </a:avLst>
          </a:prstGeom>
          <a:solidFill>
            <a:srgbClr val="174850"/>
          </a:solidFill>
          <a:ln w="12700">
            <a:solidFill>
              <a:srgbClr val="17485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408" y="2377440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212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THE WAY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734952" y="2835167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synchronized with the journey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1248" y="32004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4E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 recommends restaurants along the customer’s route and aligns preparation with arrival time for fast, low-friction pickup.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41248" y="4224528"/>
            <a:ext cx="640080" cy="640080"/>
          </a:xfrm>
          <a:prstGeom prst="roundRect">
            <a:avLst>
              <a:gd name="adj" fmla="val 28571"/>
            </a:avLst>
          </a:prstGeom>
          <a:solidFill>
            <a:srgbClr val="174850"/>
          </a:solidFill>
          <a:ln w="12700">
            <a:solidFill>
              <a:srgbClr val="17485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408" y="436168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64208" y="41879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Pickup hubs as growth points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664208" y="453542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4E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Hubs support order collection and create visible marketing touchpoints for restaurants and partner businesses.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603248" y="549106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Route-aware discovery  •  ETA-matched pickup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63640" y="1920240"/>
            <a:ext cx="5422392" cy="4315968"/>
          </a:xfrm>
          <a:prstGeom prst="roundRect">
            <a:avLst>
              <a:gd name="adj" fmla="val 3814"/>
            </a:avLst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601968" y="2240280"/>
            <a:ext cx="713232" cy="713232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9128" y="2377440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498080" y="22128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DESTINATION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601968" y="2835167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office routines and repeat meals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601968" y="320040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can order to offices, corporate campuses, homes, hotels or any selected address, without an active journey.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601968" y="4224528"/>
            <a:ext cx="640080" cy="64008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9128" y="436168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24928" y="41879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meal plans with savings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424928" y="453542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recurring lunch or tiffin plans, schedule delivery days and receive plan-based discounts for repeat orders.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601968" y="56509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Recurring plans  •  Flexible fulfilment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40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CAPABILITIES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meal experience that learns, adapts and guides.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264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SHiV.AI intelligence can personalize discovery, simplify customization and support healthier food decisions.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3456432" cy="3154680"/>
          </a:xfrm>
          <a:prstGeom prst="roundRect">
            <a:avLst>
              <a:gd name="adj" fmla="val 6377"/>
            </a:avLst>
          </a:prstGeom>
          <a:solidFill>
            <a:srgbClr val="FFFFFF"/>
          </a:solidFill>
          <a:ln w="12700">
            <a:solidFill>
              <a:srgbClr val="D7E5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395728"/>
            <a:ext cx="786384" cy="786384"/>
          </a:xfrm>
          <a:prstGeom prst="roundRect">
            <a:avLst>
              <a:gd name="adj" fmla="val 23256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" y="253288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3649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 intelligence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3913632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cuisine, spice, dietary and budget preferences from interactions and repeat orders.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34840" y="2057400"/>
            <a:ext cx="3456432" cy="3154680"/>
          </a:xfrm>
          <a:prstGeom prst="roundRect">
            <a:avLst>
              <a:gd name="adj" fmla="val 6377"/>
            </a:avLst>
          </a:prstGeom>
          <a:solidFill>
            <a:srgbClr val="E7F3F1"/>
          </a:solidFill>
          <a:ln w="12700">
            <a:solidFill>
              <a:srgbClr val="D7E5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395728"/>
            <a:ext cx="786384" cy="786384"/>
          </a:xfrm>
          <a:prstGeom prst="roundRect">
            <a:avLst>
              <a:gd name="adj" fmla="val 23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2040" y="253288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33649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customization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754880" y="3913632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Recommends compatible swaps, portions and add-ons based on availability and user needs.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75320" y="2057400"/>
            <a:ext cx="3456432" cy="3154680"/>
          </a:xfrm>
          <a:prstGeom prst="roundRect">
            <a:avLst>
              <a:gd name="adj" fmla="val 6377"/>
            </a:avLst>
          </a:prstGeom>
          <a:solidFill>
            <a:srgbClr val="FFFFFF"/>
          </a:solidFill>
          <a:ln w="12700">
            <a:solidFill>
              <a:srgbClr val="D7E5E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95360" y="2395728"/>
            <a:ext cx="786384" cy="786384"/>
          </a:xfrm>
          <a:prstGeom prst="roundRect">
            <a:avLst>
              <a:gd name="adj" fmla="val 23256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2520" y="253288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95360" y="33649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Calorie tracker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595360" y="3913632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estimated calories across meals, daily goals and recurring office plans.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94360" y="5532120"/>
            <a:ext cx="10972800" cy="530352"/>
          </a:xfrm>
          <a:prstGeom prst="roundRect">
            <a:avLst>
              <a:gd name="adj" fmla="val 31034"/>
            </a:avLst>
          </a:prstGeom>
          <a:solidFill>
            <a:srgbClr val="062F36"/>
          </a:solidFill>
          <a:ln w="12700">
            <a:solidFill>
              <a:srgbClr val="062F3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94360" y="55321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smarter  •  Customize confidently  •  Track consistently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40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READINESS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app is ready to show.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264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experience can be demonstrated today and converted into a Mumbai pilot.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290176" y="2029705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84536" y="2029705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mode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884536" y="2413753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between “On the way” and “At destination”.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90176" y="3145273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84536" y="3145273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food and timing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884536" y="3529321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location, food-ready time, ETA and fulfilment options.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290176" y="4260841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84536" y="4260841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up or receive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884536" y="4644889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Self-pickup, restaurant delivery or delivery partner.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290176" y="5614153"/>
            <a:ext cx="2971800" cy="438912"/>
          </a:xfrm>
          <a:prstGeom prst="roundRect">
            <a:avLst>
              <a:gd name="adj" fmla="val 37500"/>
            </a:avLst>
          </a:prstGeom>
          <a:solidFill>
            <a:srgbClr val="062F36"/>
          </a:solidFill>
          <a:ln w="12700">
            <a:solidFill>
              <a:srgbClr val="062F3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90176" y="5614153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ptos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READY FOR LIVE DEMO</a:t>
            </a:r>
            <a:endParaRPr lang="en-US" sz="1200">
              <a:solidFill>
                <a:schemeClr val="bg1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1DDA839-9F6A-95C8-AA02-51F503659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291" y="2027589"/>
            <a:ext cx="6294379" cy="44397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40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MUMBAI LAUNCH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narrow, learn fast, then scale.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264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density across commuter corridors and destination-based accounts.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993392"/>
            <a:ext cx="3456432" cy="2011680"/>
          </a:xfrm>
          <a:prstGeom prst="roundRect">
            <a:avLst>
              <a:gd name="adj" fmla="val 9091"/>
            </a:avLst>
          </a:prstGeom>
          <a:solidFill>
            <a:srgbClr val="062F36"/>
          </a:solidFill>
          <a:ln w="12700">
            <a:solidFill>
              <a:srgbClr val="062F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0–3 MONTHS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68680" y="312724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4E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the demo app, onboard restaurants and validate two transit clusters.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6552" y="1993392"/>
            <a:ext cx="3456432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4–8 MONTHS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90872" y="2651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Densify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690872" y="312724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offices, corporate campuses, home users and repeat-order programs.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38744" y="1993392"/>
            <a:ext cx="3456432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13064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9–12 MONTHS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13064" y="2651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513064" y="312724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winning Mumbai corridors and destination clusters.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model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4360" y="4983480"/>
            <a:ext cx="2487168" cy="822960"/>
          </a:xfrm>
          <a:prstGeom prst="roundRect">
            <a:avLst>
              <a:gd name="adj" fmla="val 2000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5084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 commission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" y="54132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4983480"/>
            <a:ext cx="2487168" cy="822960"/>
          </a:xfrm>
          <a:prstGeom prst="roundRect">
            <a:avLst>
              <a:gd name="adj" fmla="val 2000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5084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Convenience fee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47872" y="54132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order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4983480"/>
            <a:ext cx="2487168" cy="822960"/>
          </a:xfrm>
          <a:prstGeom prst="roundRect">
            <a:avLst>
              <a:gd name="adj" fmla="val 2000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5084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plans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36792" y="54132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B2B/B2E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61120" y="4983480"/>
            <a:ext cx="2487168" cy="822960"/>
          </a:xfrm>
          <a:prstGeom prst="roundRect">
            <a:avLst>
              <a:gd name="adj" fmla="val 2000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25712" y="5084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Sponsored discovery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25712" y="54132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502920" y="219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2F36"/>
                </a:solidFill>
              </a:rPr>
              <a:t>YaFoo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00A7A5"/>
                </a:solidFill>
              </a:rPr>
              <a:t>COMPANY ARCHITECTURE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530352" y="91440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62F36"/>
                </a:solidFill>
              </a:rPr>
              <a:t>YaFoo is a SHiV.AI initiative, led as a distinct venture.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47D82"/>
                </a:solidFill>
              </a:rPr>
              <a:t>Clear ownership, shared technology capability and a portfolio of delivered digital products.</a:t>
            </a:r>
            <a:endParaRPr lang="en-US" sz="1250"/>
          </a:p>
        </p:txBody>
      </p:sp>
      <p:pic>
        <p:nvPicPr>
          <p:cNvPr id="7" name="Image 0" descr="/mnt/data/brand_assets/shivai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2011680"/>
            <a:ext cx="306324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94760" y="20574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>
                <a:solidFill>
                  <a:srgbClr val="00A7A5"/>
                </a:solidFill>
              </a:rPr>
              <a:t>PARENT COMPANY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3794760" y="2350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2F36"/>
                </a:solidFill>
                <a:hlinkClick r:id="rId4"/>
              </a:rPr>
              <a:t>SHiV.AI</a:t>
            </a:r>
            <a:r>
              <a:rPr lang="en-US" sz="1600" b="1" dirty="0">
                <a:solidFill>
                  <a:srgbClr val="062F36"/>
                </a:solidFill>
              </a:rPr>
              <a:t>  •  Shivam 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794760" y="2670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D82"/>
                </a:solidFill>
              </a:rPr>
              <a:t>Technology, AI, shared platforms and venture enablement.</a:t>
            </a:r>
            <a:endParaRPr lang="en-US" sz="1050"/>
          </a:p>
        </p:txBody>
      </p:sp>
      <p:pic>
        <p:nvPicPr>
          <p:cNvPr id="11" name="Image 1" descr="/mnt/data/brand_assets/yafo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16368" y="2011680"/>
            <a:ext cx="2651760" cy="914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87000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>
                <a:solidFill>
                  <a:srgbClr val="FF9F1C"/>
                </a:solidFill>
              </a:rPr>
              <a:t>SHIV.AI INITIATIVE</a:t>
            </a:r>
            <a:endParaRPr lang="en-US" sz="850"/>
          </a:p>
        </p:txBody>
      </p:sp>
      <p:sp>
        <p:nvSpPr>
          <p:cNvPr id="13" name="Text 9"/>
          <p:cNvSpPr/>
          <p:nvPr/>
        </p:nvSpPr>
        <p:spPr>
          <a:xfrm>
            <a:off x="10287000" y="2235298"/>
            <a:ext cx="15663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2F36"/>
                </a:solidFill>
                <a:hlinkClick r:id="rId6"/>
              </a:rPr>
              <a:t>YaFoo</a:t>
            </a:r>
            <a:r>
              <a:rPr lang="en-US" sz="1350" b="1" dirty="0">
                <a:solidFill>
                  <a:srgbClr val="062F36"/>
                </a:solidFill>
              </a:rPr>
              <a:t>  •  Ganesh</a:t>
            </a:r>
          </a:p>
        </p:txBody>
      </p:sp>
      <p:pic>
        <p:nvPicPr>
          <p:cNvPr id="14" name="Image 2" descr="/mnt/data/brand_assets/is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640" y="3758184"/>
            <a:ext cx="3401568" cy="11704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6716" y="501091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647D82"/>
                </a:solidFill>
                <a:hlinkClick r:id="rId8"/>
              </a:rPr>
              <a:t>IS2</a:t>
            </a:r>
          </a:p>
        </p:txBody>
      </p:sp>
      <p:pic>
        <p:nvPicPr>
          <p:cNvPr id="16" name="Image 3" descr="/mnt/data/brand_assets/strata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25112" y="3703320"/>
            <a:ext cx="3401568" cy="11704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186543" y="501091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647D82"/>
                </a:solidFill>
                <a:hlinkClick r:id="rId10"/>
              </a:rPr>
              <a:t>STARTA</a:t>
            </a:r>
          </a:p>
        </p:txBody>
      </p:sp>
      <p:pic>
        <p:nvPicPr>
          <p:cNvPr id="18" name="Image 4" descr="/mnt/data/brand_assets/gurukul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01584" y="3703320"/>
            <a:ext cx="3401568" cy="11704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102305" y="501091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647D82"/>
                </a:solidFill>
                <a:hlinkClick r:id="rId12"/>
              </a:rPr>
              <a:t>GURUKUL</a:t>
            </a:r>
          </a:p>
        </p:txBody>
      </p:sp>
      <p:sp>
        <p:nvSpPr>
          <p:cNvPr id="20" name="Text 13"/>
          <p:cNvSpPr/>
          <p:nvPr/>
        </p:nvSpPr>
        <p:spPr>
          <a:xfrm>
            <a:off x="685800" y="583387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9F1C"/>
                </a:solidFill>
              </a:rPr>
              <a:t>Shared SHiV.AI capability. Distinct YaFoo ownership. Proven cross-industry delivery.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2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40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PARTNERSHIP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YaFoo launch and prove Mumbai.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5623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D0E1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seeking the ecosystem support required to turn a ready demo into a focused, measurable pilot.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3035808"/>
            <a:ext cx="603504" cy="603504"/>
          </a:xfrm>
          <a:prstGeom prst="roundRect">
            <a:avLst>
              <a:gd name="adj" fmla="val 30303"/>
            </a:avLst>
          </a:prstGeom>
          <a:solidFill>
            <a:srgbClr val="174850"/>
          </a:solidFill>
          <a:ln w="12700">
            <a:solidFill>
              <a:srgbClr val="17485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528" y="3172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30358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Incubation &amp; mentorship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13048" y="303580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4E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Sharpen the operating model, customer validation and city-scale playbook.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3904488"/>
            <a:ext cx="603504" cy="603504"/>
          </a:xfrm>
          <a:prstGeom prst="roundRect">
            <a:avLst>
              <a:gd name="adj" fmla="val 30303"/>
            </a:avLst>
          </a:prstGeom>
          <a:solidFill>
            <a:srgbClr val="174850"/>
          </a:solidFill>
          <a:ln w="12700">
            <a:solidFill>
              <a:srgbClr val="17485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528" y="40416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44752" y="3904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partnerships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813048" y="390448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4E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restaurants, offices, pickup hubs and delivery ecosystems.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58368" y="4773168"/>
            <a:ext cx="603504" cy="603504"/>
          </a:xfrm>
          <a:prstGeom prst="roundRect">
            <a:avLst>
              <a:gd name="adj" fmla="val 30303"/>
            </a:avLst>
          </a:prstGeom>
          <a:solidFill>
            <a:srgbClr val="174850"/>
          </a:solidFill>
          <a:ln w="12700">
            <a:solidFill>
              <a:srgbClr val="17485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528" y="491032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44752" y="4773168"/>
            <a:ext cx="199644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/>
                <a:ea typeface="Aptos" pitchFamily="34" charset="-122"/>
                <a:cs typeface="Aptos" pitchFamily="34" charset="-120"/>
              </a:rPr>
              <a:t>Investments for Pilot-launch  support</a:t>
            </a:r>
            <a:endParaRPr lang="en-US" sz="1400" dirty="0">
              <a:latin typeface="Aptos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3813048" y="477316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4E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a controlled Mumbai launch and demonstrate repeat usage.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549640" y="1024128"/>
            <a:ext cx="2971800" cy="4480560"/>
          </a:xfrm>
          <a:prstGeom prst="roundRect">
            <a:avLst>
              <a:gd name="adj" fmla="val 5538"/>
            </a:avLst>
          </a:prstGeom>
          <a:solidFill>
            <a:srgbClr val="174850"/>
          </a:solidFill>
          <a:ln w="12700">
            <a:solidFill>
              <a:srgbClr val="17485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9154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PROOF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915400" y="19659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9326880" y="1965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commuter corridors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915400" y="257860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9326880" y="25786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destination accounts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915400" y="319125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9326880" y="31912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meal ordering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915400" y="38039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9326880" y="380390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unit economics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9F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 makes food available wherever the customer is available.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8549640" y="60167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9CB9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yafoo.in  |  shivai.co.in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SHiV.AI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YaFoo Final Round Pitch</dc:title>
  <dc:subject>YaFoo Final Round Pitch</dc:subject>
  <dc:creator>Shivam Bahuguna</dc:creator>
  <cp:lastModifiedBy>Shivam Bahuguna</cp:lastModifiedBy>
  <cp:revision>68</cp:revision>
  <dcterms:created xsi:type="dcterms:W3CDTF">2026-09-05T08:39:37Z</dcterms:created>
  <dcterms:modified xsi:type="dcterms:W3CDTF">2026-09-05T14:22:54Z</dcterms:modified>
</cp:coreProperties>
</file>
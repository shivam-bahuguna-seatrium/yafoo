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F52DC-C1E0-84A3-A3BB-79ED93048799}" v="90" dt="2026-09-05T08:56:03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adapted from the founder-provided YaFoo presentation.
Business modes and demo-app status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Problem framing and target-user description adapted from the founder-provided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 modes, pickup-hub marketing role and monthly meal-plan concept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adapted from the founder-provided YaFoo presentation.
Demo-app readiness and product flow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AI capability direction provided by the founders.
Calorie values should be presented as estimates unless verified nutrition data is integrated.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Mumbai-first plan and revenue model are founder planning assumptions.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SHiV.AI: https://www.shivai.co.in/
YaFoo: https://yafoo.in/
IS2 Hospitality &amp; Tourism: https://www.is2hospitality.shivai.co.in/
Strata Hydration: https://www.stratahydration.com/
Gurukul: https://www.gurukul.shivai.co.in/
Ownership and initiative structure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SHiV.AI: https://www.shivai.co.in/
YaFoo: https://yafoo.in/
IS2 Hospitality &amp; Tourism: https://www.is2hospitality.shivai.co.in/
Strata Hydration: https://www.stratahydration.com/
Gurukul: https://www.gurukul.shivai.co.in/
Ownership and initiative structure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Partnership requirements and pilot objectives provided by the founders.
No funding amount is stated on this slide.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aFoo.i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s2hospitality.shivai.co.in" TargetMode="External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12" Type="http://schemas.openxmlformats.org/officeDocument/2006/relationships/hyperlink" Target="http://www.gurukul.shivai.co.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YAFOO.IN" TargetMode="External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hyperlink" Target="https://www.stratahydration.com/" TargetMode="External"/><Relationship Id="rId4" Type="http://schemas.openxmlformats.org/officeDocument/2006/relationships/hyperlink" Target="http://www.shivai.co.in" TargetMode="External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media/image2.png"/>
          <p:cNvPicPr>
            <a:picLocks noChangeAspect="1"/>
          </p:cNvPicPr>
          <p:nvPr/>
        </p:nvPicPr>
        <p:blipFill>
          <a:blip r:embed="rId3">
            <a:alphaModFix amt="82000"/>
          </a:blip>
          <a:srcRect l="25200" r="25200"/>
          <a:stretch/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58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for every journey.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for every destination.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2E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along your route, or order directly to your office, corporate campus, home, hotel or any destination.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APP READY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 FIRST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912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ORDERING MODES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6080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8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SHiV.AI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EVERYDAY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apps stop where movement begins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sharp use case, a clear user and a repeatable daily habit.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154680" cy="4297680"/>
          </a:xfrm>
          <a:prstGeom prst="roundRect">
            <a:avLst>
              <a:gd name="adj" fmla="val 5217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8938"/>
            <a:ext cx="2800773" cy="95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commuters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cannot wait.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Office-goers, students and frequent travellers navigating trains, metro lines and congested roads.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285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address ≠ moving customer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9080" y="190195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6240" y="2039112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9204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LOST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2212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Detours, queues and uncertain preparation times.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69080" y="309067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0" y="32278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9204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ACCESS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meals are hard to coordinate mid-journey.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069080" y="427939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240" y="44165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FRICTION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92040" y="4590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delivery is designed for fixed locations.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01000" y="187452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E7F3F1"/>
          </a:solidFill>
          <a:ln w="12700">
            <a:solidFill>
              <a:srgbClr val="E7F3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21040" y="22677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converts the route itself into the delivery address.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32104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805672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before departure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21040" y="41788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805672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ETA with prep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21040" y="4837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805672" y="4837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up without delay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platform, two high-frequency needs.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serves customers while moving and after arriving, with flexible food access for commuters, offices and recurring meal users.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532120" cy="4315968"/>
          </a:xfrm>
          <a:prstGeom prst="roundRect">
            <a:avLst>
              <a:gd name="adj" fmla="val 3814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240280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408" y="23774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WAY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4952" y="2835167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synchronized with the journey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recommends restaurants along the customer’s route and aligns preparation with arrival time for fast, low-friction pickup.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1248" y="4224528"/>
            <a:ext cx="640080" cy="640080"/>
          </a:xfrm>
          <a:prstGeom prst="roundRect">
            <a:avLst>
              <a:gd name="adj" fmla="val 28571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4361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4187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hubs as growth points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64208" y="453542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 support order collection and create visible marketing touchpoints for restaurants and partner businesses.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03248" y="549106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Route-aware discovery  •  ETA-matched pickup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1920240"/>
            <a:ext cx="5422392" cy="4315968"/>
          </a:xfrm>
          <a:prstGeom prst="roundRect">
            <a:avLst>
              <a:gd name="adj" fmla="val 3814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01968" y="2240280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9128" y="23774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0" y="22128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DESTINATION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601968" y="2835167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office routines and repeat meals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01968" y="3200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can order to offices, corporate campuses, homes, hotels or any selected address, without an active journey.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601968" y="4224528"/>
            <a:ext cx="640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9128" y="43616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4187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meal plans with savings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24928" y="45354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recurring lunch or tiffin plans, schedule delivery days and receive plan-based discounts for repeat orders.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601968" y="5650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plans  •  Flexible fulfilment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app is ready to show.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experience can be demonstrated today and converted into a Mumbai pilot.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90176" y="2029705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84536" y="202970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mode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84536" y="2413753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between “On the way” and “At destination”.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90176" y="314527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4536" y="314527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food and timing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84536" y="3529321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location, food-ready time, ETA and fulfilment options.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90176" y="426084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84536" y="4260841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up or receive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884536" y="4644889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Self-pickup, restaurant delivery or delivery partner.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90176" y="5614153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90176" y="5614153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READY FOR LIVE DEMO</a:t>
            </a:r>
            <a:endParaRPr lang="en-US" sz="1200">
              <a:solidFill>
                <a:schemeClr val="bg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DDA839-9F6A-95C8-AA02-51F50365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91" y="2027589"/>
            <a:ext cx="6294379" cy="4439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meal experience that learns, adapts and guides.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SHiV.AI intelligence can personalize discovery, simplify customization and support healthier food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53288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intelligence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cuisine, spice, dietary and budget preferences from interactions and repeat orders.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E7F3F1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25328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customization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 compatible swaps, portions and add-ons based on availability and user needs.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7532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2520" y="253288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Calorie tracker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9536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estimated calories across meals, daily goals and recurring office plans.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4360" y="5532120"/>
            <a:ext cx="10972800" cy="530352"/>
          </a:xfrm>
          <a:prstGeom prst="roundRect">
            <a:avLst>
              <a:gd name="adj" fmla="val 31034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" y="55321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smarter  •  Customize confidently  •  Track consistently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narrow, learn fast, then scale.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density across commuter corridors and destination-based accounts.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the demo app, onboard restaurants and validate two transit clusters.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4–8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0872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90872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offices, corporate campuses, home users and repeat-order programs.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38744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13064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513064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winning Mumbai corridors and destination clusters.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model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commission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Convenience fee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4787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plans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B2B/B2E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Sponsored discovery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2571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is a SHiV.AI initiative, led as a distinct venture.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ownership, shared technology capability and a portfolio of delivered digital products.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3657600" cy="3611880"/>
          </a:xfrm>
          <a:prstGeom prst="roundRect">
            <a:avLst>
              <a:gd name="adj" fmla="val 4557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COMPANY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761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SHiV.AI  •  Shivam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Technology, AI, shared platforms and venture enablement.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782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capability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993392"/>
            <a:ext cx="7040880" cy="3611880"/>
          </a:xfrm>
          <a:prstGeom prst="roundRect">
            <a:avLst>
              <a:gd name="adj" fmla="val 4557"/>
            </a:avLst>
          </a:prstGeom>
          <a:solidFill>
            <a:srgbClr val="E9F3F1"/>
          </a:solidFill>
          <a:ln w="12700">
            <a:solidFill>
              <a:srgbClr val="E9F3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SHIV.AI INITIATIVE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 •  Ganesh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164592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657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D82"/>
                </a:solidFill>
              </a:rPr>
              <a:t>IS2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03720" y="3657600"/>
            <a:ext cx="164592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657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D82"/>
                </a:solidFill>
              </a:rPr>
              <a:t>STARTA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69680" y="3657600"/>
            <a:ext cx="164592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657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D82"/>
                </a:solidFill>
              </a:rPr>
              <a:t>GURUKUL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YaFoo ownership. Proven cross-industry delivery.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85BB9C9-52F2-4F55-2174-141BF0BE8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33" y="250363"/>
            <a:ext cx="5964297" cy="900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2F36"/>
                </a:solidFill>
              </a:rPr>
              <a:t>YaFoo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7A5"/>
                </a:solidFill>
              </a:rPr>
              <a:t>COMPANY ARCHITECTURE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2F36"/>
                </a:solidFill>
              </a:rPr>
              <a:t>YaFoo is a SHiV.AI initiative, led as a distinct venture.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D82"/>
                </a:solidFill>
              </a:rPr>
              <a:t>Clear ownership, shared technology capability and a portfolio of delivered digital products.</a:t>
            </a:r>
            <a:endParaRPr lang="en-US" sz="1250"/>
          </a:p>
        </p:txBody>
      </p:sp>
      <p:pic>
        <p:nvPicPr>
          <p:cNvPr id="7" name="Image 0" descr="/mnt/data/brand_assets/shiv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2011680"/>
            <a:ext cx="306324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94760" y="2057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>
                <a:solidFill>
                  <a:srgbClr val="00A7A5"/>
                </a:solidFill>
              </a:rPr>
              <a:t>PARENT COMPANY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3794760" y="2350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2F36"/>
                </a:solidFill>
                <a:hlinkClick r:id="rId4"/>
              </a:rPr>
              <a:t>SHiV.AI</a:t>
            </a:r>
            <a:r>
              <a:rPr lang="en-US" sz="1600" b="1" dirty="0">
                <a:solidFill>
                  <a:srgbClr val="062F36"/>
                </a:solidFill>
              </a:rPr>
              <a:t>  •  Shivam 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9476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D82"/>
                </a:solidFill>
              </a:rPr>
              <a:t>Technology, AI, shared platforms and venture enablement.</a:t>
            </a:r>
            <a:endParaRPr lang="en-US" sz="1050"/>
          </a:p>
        </p:txBody>
      </p:sp>
      <p:pic>
        <p:nvPicPr>
          <p:cNvPr id="11" name="Image 1" descr="/mnt/data/brand_assets/yafo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6368" y="2011680"/>
            <a:ext cx="265176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8700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FF9F1C"/>
                </a:solidFill>
              </a:rPr>
              <a:t>SHIV.AI INITIATIVE</a:t>
            </a:r>
            <a:endParaRPr lang="en-US" sz="850"/>
          </a:p>
        </p:txBody>
      </p:sp>
      <p:sp>
        <p:nvSpPr>
          <p:cNvPr id="13" name="Text 9"/>
          <p:cNvSpPr/>
          <p:nvPr/>
        </p:nvSpPr>
        <p:spPr>
          <a:xfrm>
            <a:off x="10287000" y="2235298"/>
            <a:ext cx="15663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2F36"/>
                </a:solidFill>
                <a:hlinkClick r:id="rId6"/>
              </a:rPr>
              <a:t>YaFoo</a:t>
            </a:r>
            <a:r>
              <a:rPr lang="en-US" sz="1350" b="1" dirty="0">
                <a:solidFill>
                  <a:srgbClr val="062F36"/>
                </a:solidFill>
              </a:rPr>
              <a:t>  •  Ganesh</a:t>
            </a:r>
          </a:p>
        </p:txBody>
      </p:sp>
      <p:pic>
        <p:nvPicPr>
          <p:cNvPr id="14" name="Image 2" descr="/mnt/data/brand_assets/is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" y="3758184"/>
            <a:ext cx="3401568" cy="11704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6716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47D82"/>
                </a:solidFill>
                <a:hlinkClick r:id="rId8"/>
              </a:rPr>
              <a:t>IS2</a:t>
            </a:r>
          </a:p>
        </p:txBody>
      </p:sp>
      <p:pic>
        <p:nvPicPr>
          <p:cNvPr id="16" name="Image 3" descr="/mnt/data/brand_assets/strat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5112" y="3703320"/>
            <a:ext cx="3401568" cy="11704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86543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47D82"/>
                </a:solidFill>
                <a:hlinkClick r:id="rId10"/>
              </a:rPr>
              <a:t>STARTA</a:t>
            </a:r>
          </a:p>
        </p:txBody>
      </p:sp>
      <p:pic>
        <p:nvPicPr>
          <p:cNvPr id="18" name="Image 4" descr="/mnt/data/brand_assets/guruku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1584" y="3703320"/>
            <a:ext cx="3401568" cy="11704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02305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47D82"/>
                </a:solidFill>
                <a:hlinkClick r:id="rId12"/>
              </a:rPr>
              <a:t>GURUKUL</a:t>
            </a:r>
          </a:p>
        </p:txBody>
      </p:sp>
      <p:sp>
        <p:nvSpPr>
          <p:cNvPr id="20" name="Text 13"/>
          <p:cNvSpPr/>
          <p:nvPr/>
        </p:nvSpPr>
        <p:spPr>
          <a:xfrm>
            <a:off x="685800" y="583387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9F1C"/>
                </a:solidFill>
              </a:rPr>
              <a:t>Shared SHiV.AI capability. Distinct YaFoo ownership. Proven cross-industry delivery.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40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PARTNERSHIP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YaFoo launch and prove Mumbai.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0E1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seeking the ecosystem support required to turn a ready demo into a focused, measurable pilot.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03580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28" y="3172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Incubation &amp; mentorship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13048" y="3035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Sharpen the operating model, customer validation and city-scale playbook.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390448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" y="4041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3904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partnerships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813048" y="39044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restaurants, offices, pickup hubs and delivery ecosystems.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8368" y="477316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" y="49103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Pilot-launch support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813048" y="47731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 controlled Mumbai launch and demonstrate repeat usage.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549640" y="1024128"/>
            <a:ext cx="2971800" cy="4480560"/>
          </a:xfrm>
          <a:prstGeom prst="roundRect">
            <a:avLst>
              <a:gd name="adj" fmla="val 5538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9154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915400" y="1965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32688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commuter corridors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915400" y="25786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326880" y="25786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destination accounts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15400" y="31912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326880" y="31912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meal ordering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15400" y="38039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326880" y="38039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unit economics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makes food available wherever the customer is available.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49640" y="6016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9CB9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yafoo.in  |  shivai.co.in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SHiV.AI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YaFoo Final Round Pitch</dc:title>
  <dc:subject>YaFoo Final Round Pitch</dc:subject>
  <dc:creator>Shivam Bahuguna</dc:creator>
  <cp:lastModifiedBy>Shivam Bahuguna</cp:lastModifiedBy>
  <cp:revision>49</cp:revision>
  <dcterms:created xsi:type="dcterms:W3CDTF">2026-09-05T08:39:37Z</dcterms:created>
  <dcterms:modified xsi:type="dcterms:W3CDTF">2026-09-05T09:22:30Z</dcterms:modified>
</cp:coreProperties>
</file>